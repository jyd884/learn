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4C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09728" cy="68580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834640"/>
            <a:ext cx="8686800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艾　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89B2A"/>
                </a:solidFill>
                <a:latin typeface="微软雅黑"/>
              </a:rPr>
              <a:t>客家饮食文化的绿色名片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D4EDDA"/>
                </a:solidFill>
                <a:latin typeface="微软雅黑"/>
              </a:rPr>
              <a:t>课程：文化概论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D4EDDA"/>
                </a:solidFill>
                <a:latin typeface="微软雅黑"/>
              </a:rPr>
              <a:t>班级：2022 级 × 班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D4EDDA"/>
                </a:solidFill>
                <a:latin typeface="微软雅黑"/>
              </a:rPr>
              <a:t>姓名：×××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D4EDDA"/>
                </a:solidFill>
                <a:latin typeface="微软雅黑"/>
              </a:rPr>
              <a:t>日期：2025 年春季学期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0972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>
                <a:solidFill>
                  <a:srgbClr val="FFFFFF"/>
                </a:solidFill>
                <a:latin typeface="微软雅黑"/>
              </a:rPr>
              <a:t>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</a:rPr>
              <a:t>目  录 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66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什么是艾粄？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25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起源与定义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624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艾粄的历史与文化背景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客家文化溯源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82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主要原料介绍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艾草与糯米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340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制作工艺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传统手工流程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98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口味与种类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多彩的地方变体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56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饮食文化意义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754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节气・家族・传承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91480"/>
            <a:ext cx="502920" cy="47548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40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440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B3E"/>
                </a:solidFill>
                <a:latin typeface="微软雅黑"/>
              </a:rPr>
              <a:t>总结与感悟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440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什么是艾粄？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1600" cy="521208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❝ 艾粄 ❞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艾粄（Ngai Baan）是客家人以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艾草汁与糯米粉揉合制成的一种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传统米制糕点。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外皮呈翠绿色，内馅以花生、芝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麻、豆沙等为主，口感软糯、清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香，带有艾草特有的草本气息。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又称「清明粄」「艾糍」，是客</a:t>
            </a:r>
          </a:p>
          <a:p>
            <a:pPr algn="l">
              <a:spcBef>
                <a:spcPts val="300"/>
              </a:spcBef>
            </a:pPr>
            <a:r>
              <a:rPr sz="1800" b="0">
                <a:solidFill>
                  <a:srgbClr val="333333"/>
                </a:solidFill>
                <a:latin typeface="微软雅黑"/>
              </a:rPr>
              <a:t>家地区清明节最具代表性的食品。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585216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02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6B3E"/>
                </a:solidFill>
                <a:latin typeface="微软雅黑"/>
              </a:rPr>
              <a:t>🌿  外观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微软雅黑"/>
              </a:rPr>
              <a:t>翠绿色糯米皮，表面光滑柔软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514600"/>
            <a:ext cx="585216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5908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6B3E"/>
                </a:solidFill>
                <a:latin typeface="微软雅黑"/>
              </a:rPr>
              <a:t>🍃  香气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718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微软雅黑"/>
              </a:rPr>
              <a:t>艾草清香，淡淡草本芬芳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703320"/>
            <a:ext cx="585216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779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6B3E"/>
                </a:solidFill>
                <a:latin typeface="微软雅黑"/>
              </a:rPr>
              <a:t>🍡  口感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160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微软雅黑"/>
              </a:rPr>
              <a:t>软糯弹牙，馅料甜而不腻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892040"/>
            <a:ext cx="585216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968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6B3E"/>
                </a:solidFill>
                <a:latin typeface="微软雅黑"/>
              </a:rPr>
              <a:t>📅  时节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349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微软雅黑"/>
              </a:rPr>
              <a:t>清明前后为主要制作与食用季节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艾粄的历史与文化背景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1417320"/>
            <a:ext cx="38100" cy="914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1872" y="1353312"/>
            <a:ext cx="201168" cy="20116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6B3E"/>
                </a:solidFill>
                <a:latin typeface="微软雅黑"/>
              </a:rPr>
              <a:t>先秦时期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280160"/>
            <a:ext cx="9875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3817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微软雅黑"/>
              </a:rPr>
              <a:t>艾草已被记载于《诗经》，作为药用植物广泛使用，寓意辟邪祛病。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606040"/>
            <a:ext cx="38100" cy="914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61872" y="2542032"/>
            <a:ext cx="201168" cy="20116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6B3E"/>
                </a:solidFill>
                <a:latin typeface="微软雅黑"/>
              </a:rPr>
              <a:t>汉代以后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468880"/>
            <a:ext cx="9875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57048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微软雅黑"/>
              </a:rPr>
              <a:t>南迁汉人（客家先民）将艾草食俗带入岭南，与当地糯米文化融合。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794760"/>
            <a:ext cx="38100" cy="914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61872" y="3730752"/>
            <a:ext cx="201168" cy="20116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6B3E"/>
                </a:solidFill>
                <a:latin typeface="微软雅黑"/>
              </a:rPr>
              <a:t>宋元时期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657600"/>
            <a:ext cx="9875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759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微软雅黑"/>
              </a:rPr>
              <a:t>客家人随战乱南迁，艾粄随之在赣、闽、粤客家聚居地定型传播。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983480"/>
            <a:ext cx="38100" cy="914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61872" y="4919472"/>
            <a:ext cx="201168" cy="20116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463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6B3E"/>
                </a:solidFill>
                <a:latin typeface="微软雅黑"/>
              </a:rPr>
              <a:t>明清至今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4846320"/>
            <a:ext cx="9875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947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微软雅黑"/>
              </a:rPr>
              <a:t>艾粄成为清明祭祖必备供品，并发展出丰富地方口味，流传海内外。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A05A"/>
                </a:solidFill>
                <a:latin typeface="微软雅黑"/>
              </a:rPr>
              <a:t>💡  客家人因历史上多次迁徙，将中原饮食文化与南方物产结合，形成独特的"山地饮食"体系，艾粄正是这一融合的缩影。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主要原料介绍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914400"/>
          </a:xfrm>
          <a:prstGeom prst="rect">
            <a:avLst/>
          </a:prstGeom>
          <a:solidFill>
            <a:srgbClr val="4C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微软雅黑"/>
              </a:rPr>
              <a:t>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B3E"/>
                </a:solidFill>
                <a:latin typeface="微软雅黑"/>
              </a:rPr>
              <a:t>艾　草  Mugwort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学名：Artemisia argyi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性味温，有祛湿、驱寒之效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鲜叶洗净后打汁，赋予粄皮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  翠绿色与独特清香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清明前后嫩叶品质最佳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3657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34440"/>
            <a:ext cx="3657600" cy="914400"/>
          </a:xfrm>
          <a:prstGeom prst="rect">
            <a:avLst/>
          </a:prstGeom>
          <a:solidFill>
            <a:srgbClr val="4C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微软雅黑"/>
              </a:rPr>
              <a:t>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B3E"/>
                </a:solidFill>
                <a:latin typeface="微软雅黑"/>
              </a:rPr>
              <a:t>糯　米  Glutinous 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粳糯或籼糯均可使用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磨成米粉后与艾草汁揉和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提供软糯、弹牙的口感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客家地区多自磨手工米粉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57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34440"/>
            <a:ext cx="3657600" cy="914400"/>
          </a:xfrm>
          <a:prstGeom prst="rect">
            <a:avLst/>
          </a:prstGeom>
          <a:solidFill>
            <a:srgbClr val="4C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微软雅黑"/>
              </a:rPr>
              <a:t>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B3E"/>
                </a:solidFill>
                <a:latin typeface="微软雅黑"/>
              </a:rPr>
              <a:t>馅　料  Fillings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甜馅：花生碎、芝麻、红糖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豆沙：红豆沙最为常见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咸馅：萝卜丝、腊肉（部分地区）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微软雅黑"/>
              </a:rPr>
              <a:t>• 馅料体现各地客家饮食偏好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传统制作工艺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2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采摘艾草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" y="219456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清明前后采摘新鲜嫩叶，洗净备用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9B2A"/>
                </a:solidFill>
                <a:latin typeface="微软雅黑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32588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2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7373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煮烫去苦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640" y="219456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沸水焯烫2分钟，去除苦涩味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9B2A"/>
                </a:solidFill>
                <a:latin typeface="微软雅黑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32588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42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7373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打汁混合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60" y="219456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将艾草打碎取汁，加入糯米粉揉成团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0335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434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包入馅料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520" y="480060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分剂子，压扁后包入花生/豆沙馅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34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9B2A"/>
                </a:solidFill>
                <a:latin typeface="微软雅黑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93192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0335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3434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造型封口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3640" y="480060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捏合收口，可做圆形或饺子形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434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9B2A"/>
                </a:solidFill>
                <a:latin typeface="微软雅黑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931920"/>
            <a:ext cx="1691640" cy="14630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0335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9B2A"/>
                </a:solidFill>
                <a:latin typeface="微软雅黑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434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蒸制成型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6760" y="4800600"/>
            <a:ext cx="153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DDA"/>
                </a:solidFill>
                <a:latin typeface="微软雅黑"/>
              </a:rPr>
              <a:t>上笼大火蒸15–20分钟至熟透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834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A05A"/>
                </a:solidFill>
                <a:latin typeface="微软雅黑"/>
              </a:rPr>
              <a:t>▼ 继续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577840"/>
            <a:ext cx="11521440" cy="8686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235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6B3E"/>
                </a:solidFill>
                <a:latin typeface="微软雅黑"/>
              </a:rPr>
              <a:t>🍃 传统做法小贴士：揉面时艾草汁需趁热加入，可使颜色更鲜亮；蒸前在笼布上抹油，防止粘连。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口味与地方种类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669280" cy="56692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" y="135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梅州艾粄  🌟 最经典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760" y="1965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甜馅为主（花生+芝麻+红糖），粄皮薄而均匀，清明祭祖必备。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669280" cy="56692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5240" y="135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赣南艾糍  🎋 偏咸香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0640" y="1965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部分地区包入萝卜丝炒腊肉，口味咸鲜，体现山区饮食风格。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669280" cy="56692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60" y="3779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闽西清明粿  🍃 形似饺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760" y="43891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外形捏成饺子状，馅料以豆沙或笋丁为主，色泽翠绿鲜亮。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669280" cy="56692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5240" y="3779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台湾草仔粿  🌺 现代风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0640" y="43891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客家移民带入台湾，演化出多种口味，并发展成商业化产品。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09360"/>
            <a:ext cx="11430000" cy="384048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276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各地艾粄虽形态各异，但核心相同：以艾草入食、糯米为皮、寄托思乡之情。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66928" cy="566928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饮食文化意义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81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85800" cy="2194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/>
              </a:rPr>
              <a:t>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614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3E"/>
                </a:solidFill>
                <a:latin typeface="微软雅黑"/>
              </a:rPr>
              <a:t>节气与时令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4526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艾粄以清明节为核心时节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体现客家人"不时不食"的饮食智慧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艾草季节性生长决定了食俗的周期性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685800" cy="2194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/>
              </a:rPr>
              <a:t>👨‍👩‍👧‍👦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3614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3E"/>
                </a:solidFill>
                <a:latin typeface="微软雅黑"/>
              </a:rPr>
              <a:t>家族与祭祖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828800"/>
            <a:ext cx="4526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清明艾粄作为供品祭扫先祖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全家动手制粄，强化家族凝聚力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"做粄"是重要的家庭集体记忆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685800" cy="2194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/>
              </a:rPr>
              <a:t>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303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3E"/>
                </a:solidFill>
                <a:latin typeface="微软雅黑"/>
              </a:rPr>
              <a:t>药食同源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97680"/>
            <a:ext cx="4526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艾草性温，有驱寒、祛湿之效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春季进食契合中医"春养阳"理念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体现客家饮食"以食补身"的传统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033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685800" cy="219456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38912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/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8303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3E"/>
                </a:solidFill>
                <a:latin typeface="微软雅黑"/>
              </a:rPr>
              <a:t>文化传承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297680"/>
            <a:ext cx="4526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随客家移民传播至东南亚、台湾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成为海外客家人的乡愁符号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333333"/>
                </a:solidFill>
                <a:latin typeface="微软雅黑"/>
              </a:rPr>
              <a:t>非物质文化遗产保护对象之一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4C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50800" cy="68580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总 结 与 感 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8961120" cy="25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9052560" cy="868680"/>
          </a:xfrm>
          <a:prstGeom prst="rect">
            <a:avLst/>
          </a:prstGeom>
          <a:solidFill>
            <a:srgbClr val="3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35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🌿  艾粄不仅仅是一道食物，更是客家人对自然、祖先与家园的深情表达。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9052560" cy="868680"/>
          </a:xfrm>
          <a:prstGeom prst="rect">
            <a:avLst/>
          </a:prstGeom>
          <a:solidFill>
            <a:srgbClr val="3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993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🧬  从艾草到糯米，从煮汁到蒸制，每一个步骤都凝聚着代代相传的手艺智慧。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29000"/>
            <a:ext cx="9052560" cy="868680"/>
          </a:xfrm>
          <a:prstGeom prst="rect">
            <a:avLst/>
          </a:prstGeom>
          <a:solidFill>
            <a:srgbClr val="3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05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🌏  随着客家人走遍世界，艾粄也成为维系海内外客家人文化认同的纽带。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34840"/>
            <a:ext cx="9052560" cy="868680"/>
          </a:xfrm>
          <a:prstGeom prst="rect">
            <a:avLst/>
          </a:prstGeom>
          <a:solidFill>
            <a:srgbClr val="3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110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📚  研究饮食文化，是理解一个民系精神气质最生动、最鲜活的切入口。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9B2A"/>
                </a:solidFill>
                <a:latin typeface="微软雅黑"/>
              </a:rPr>
              <a:t>「一口艾粄，一缕乡愁，一份传承。」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09728" cy="68580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E6B3E"/>
                </a:solidFill>
                <a:latin typeface="微软雅黑"/>
              </a:rPr>
              <a:t>谢  谢  聆  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CA05A"/>
                </a:solidFill>
                <a:latin typeface="微软雅黑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6675120" cy="25400"/>
          </a:xfrm>
          <a:prstGeom prst="rect">
            <a:avLst/>
          </a:prstGeom>
          <a:solidFill>
            <a:srgbClr val="C8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33333"/>
                </a:solidFill>
                <a:latin typeface="微软雅黑"/>
              </a:rPr>
              <a:t>Q &amp; A  欢迎提问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微软雅黑"/>
              </a:rPr>
              <a:t>参考资料：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微软雅黑"/>
              </a:rPr>
              <a:t>1. 《客家饮食文化》，温锐君著，广东人民出版社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微软雅黑"/>
              </a:rPr>
              <a:t>2. 《中国传统节日饮食》，王学泰著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微软雅黑"/>
              </a:rPr>
              <a:t>3. 梅州市非物质文化遗产保护中心相关文献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